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24791b1f3804d5f" /><Relationship Type="http://schemas.openxmlformats.org/officeDocument/2006/relationships/extended-properties" Target="/docProps/app.xml" Id="R614e6c4f679c450e" /><Relationship Type="http://schemas.openxmlformats.org/officeDocument/2006/relationships/officeDocument" Target="/ppt/presentation.xml" Id="R3084dcb5cecb494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f3c58b68f9e4068"/>
  </p:sldMasterIdLst>
  <p:notesMasterIdLst>
    <p:notesMasterId xmlns:r="http://schemas.openxmlformats.org/officeDocument/2006/relationships" r:id="R50d684dfdecd4a88"/>
  </p:notesMasterIdLst>
  <p:sldIdLst>
    <p:sldId xmlns:r="http://schemas.openxmlformats.org/officeDocument/2006/relationships" id="256" r:id="R115b0e032f17446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9278b8974e4285" /><Relationship Type="http://schemas.openxmlformats.org/officeDocument/2006/relationships/slideMaster" Target="/ppt/slideMasters/slideMaster1.xml" Id="R7f3c58b68f9e4068" /><Relationship Type="http://schemas.openxmlformats.org/officeDocument/2006/relationships/notesMaster" Target="/ppt/notesMasters/notesMaster1.xml" Id="R50d684dfdecd4a88" /><Relationship Type="http://schemas.openxmlformats.org/officeDocument/2006/relationships/presProps" Target="/ppt/presProps.xml" Id="R858538f1e4cc4ac1" /><Relationship Type="http://schemas.openxmlformats.org/officeDocument/2006/relationships/tableStyles" Target="/ppt/tableStyles.xml" Id="R7085e02a780446f0" /><Relationship Type="http://schemas.openxmlformats.org/officeDocument/2006/relationships/slide" Target="/ppt/slides/slide1.xml" Id="R115b0e032f17446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cf271071133442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1ff2490c2504dcf" /><Relationship Type="http://schemas.openxmlformats.org/officeDocument/2006/relationships/notesMaster" Target="/ppt/notesMasters/notesMaster1.xml" Id="R21ae7d06cfc141e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50eac3e649496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7aefded2c3b4ef5" /><Relationship Type="http://schemas.openxmlformats.org/officeDocument/2006/relationships/slideLayout" Target="/ppt/slideLayouts/slideLayout1.xml" Id="Rab79e8a47dc84bf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b79e8a47dc84bf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fc81e241ef4e39" /><Relationship Type="http://schemas.openxmlformats.org/officeDocument/2006/relationships/notesSlide" Target="/ppt/notesSlides/notesSlide1.xml" Id="Rabf4b635796246a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266EBA4-39D5-48F5-BDB8-35C2D8770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172033"/>
                </a:solidFill>
                <a:latin typeface="Arial Unicode MS"/>
                <a:ea typeface="Arial Unicode MS"/>
                <a:cs typeface="Arial Unicode MS"/>
              </a:rPr>
              <a:t>数据安全专利识别：从关键词召回到最终数据集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D24FCA4-14EB-4678-B674-74EA76176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1440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6671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>
                <a:solidFill>
                  <a:srgbClr val="667187"/>
                </a:solidFill>
                <a:latin typeface="Arial Unicode MS"/>
                <a:ea typeface="Arial Unicode MS"/>
                <a:cs typeface="Arial Unicode MS"/>
              </a:rPr>
              <a:t>召回 → 初分类 → 人工真值 → 训练 → 独立测试 → E 层认证</a:t>
            </a:r>
          </a:p>
        </p:txBody>
      </p:sp>
      <p:sp>
        <p:nvSpPr>
          <p:cNvPr id="3" name="stage-1-box">
            <a:extLst xmlns:a="http://schemas.openxmlformats.org/drawingml/2006/main">
              <a:ext uri="{FF2B5EF4-FFF2-40B4-BE49-F238E27FC236}">
                <a16:creationId xmlns:a16="http://schemas.microsoft.com/office/drawing/2014/main" id="{7CB641C7-E4F6-4368-AEAE-97E1AA6B4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2571750" cy="1476375"/>
          </a:xfrm>
          <a:prstGeom xmlns:a="http://schemas.openxmlformats.org/drawingml/2006/main" prst="roundRect">
            <a:avLst>
              <a:gd name="adj" fmla="val 11613"/>
            </a:avLst>
          </a:prstGeom>
          <a:solidFill xmlns:a="http://schemas.openxmlformats.org/drawingml/2006/main">
            <a:srgbClr val="EDF1F6"/>
          </a:solidFill>
          <a:ln xmlns:a="http://schemas.openxmlformats.org/drawingml/2006/main" w="14288">
            <a:solidFill>
              <a:srgbClr val="607086"/>
            </a:solidFill>
            <a:prstDash val="solid"/>
          </a:ln>
        </p:spPr>
      </p:sp>
      <p:sp>
        <p:nvSpPr>
          <p:cNvPr id="4" name="stage-1-number">
            <a:extLst xmlns:a="http://schemas.openxmlformats.org/drawingml/2006/main">
              <a:ext uri="{FF2B5EF4-FFF2-40B4-BE49-F238E27FC236}">
                <a16:creationId xmlns:a16="http://schemas.microsoft.com/office/drawing/2014/main" id="{72F0D434-8A7A-4433-A7D9-6E360E201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7086"/>
          </a:solidFill>
          <a:ln xmlns:a="http://schemas.openxmlformats.org/drawingml/2006/main" w="9525">
            <a:solidFill>
              <a:srgbClr val="607086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5" name="stage-1-title">
            <a:extLst xmlns:a="http://schemas.openxmlformats.org/drawingml/2006/main">
              <a:ext uri="{FF2B5EF4-FFF2-40B4-BE49-F238E27FC236}">
                <a16:creationId xmlns:a16="http://schemas.microsoft.com/office/drawing/2014/main" id="{021D1F05-CA02-4422-94CC-AE6B4D068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743075"/>
            <a:ext cx="1695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22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82235"/>
                </a:solidFill>
                <a:latin typeface="Arial Unicode MS"/>
                <a:ea typeface="Arial Unicode MS"/>
                <a:cs typeface="Arial Unicode MS"/>
              </a:rPr>
              <a:t>原始专利</a:t>
            </a:r>
          </a:p>
        </p:txBody>
      </p:sp>
      <p:sp>
        <p:nvSpPr>
          <p:cNvPr id="6" name="stage-1-body">
            <a:extLst xmlns:a="http://schemas.openxmlformats.org/drawingml/2006/main">
              <a:ext uri="{FF2B5EF4-FFF2-40B4-BE49-F238E27FC236}">
                <a16:creationId xmlns:a16="http://schemas.microsoft.com/office/drawing/2014/main" id="{7338025F-4341-4290-B47B-DA4C32B80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2152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45526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455267"/>
                </a:solidFill>
                <a:latin typeface="Arial Unicode MS"/>
                <a:ea typeface="Arial Unicode MS"/>
                <a:cs typeface="Arial Unicode MS"/>
              </a:rPr>
              <a:t>多年度 CSV</a:t>
            </a:r>
          </a:p>
          <a:p xmlns:a="http://schemas.openxmlformats.org/drawingml/2006/main">
            <a:pPr algn="ctr">
              <a:defRPr sz="1350">
                <a:solidFill>
                  <a:srgbClr val="45526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455267"/>
                </a:solidFill>
                <a:latin typeface="Arial Unicode MS"/>
                <a:ea typeface="Arial Unicode MS"/>
                <a:cs typeface="Arial Unicode MS"/>
              </a:rPr>
              <a:t>按申请号去重</a:t>
            </a:r>
          </a:p>
        </p:txBody>
      </p:sp>
      <p:sp>
        <p:nvSpPr>
          <p:cNvPr id="7" name="stage-2-box">
            <a:extLst xmlns:a="http://schemas.openxmlformats.org/drawingml/2006/main">
              <a:ext uri="{FF2B5EF4-FFF2-40B4-BE49-F238E27FC236}">
                <a16:creationId xmlns:a16="http://schemas.microsoft.com/office/drawing/2014/main" id="{0AD43FB6-EB88-4744-9869-F6E3A78DD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524000"/>
            <a:ext cx="2571750" cy="1476375"/>
          </a:xfrm>
          <a:prstGeom xmlns:a="http://schemas.openxmlformats.org/drawingml/2006/main" prst="roundRect">
            <a:avLst>
              <a:gd name="adj" fmla="val 11613"/>
            </a:avLst>
          </a:prstGeom>
          <a:solidFill xmlns:a="http://schemas.openxmlformats.org/drawingml/2006/main">
            <a:srgbClr val="E7F1FC"/>
          </a:solidFill>
          <a:ln xmlns:a="http://schemas.openxmlformats.org/drawingml/2006/main" w="14288">
            <a:solidFill>
              <a:srgbClr val="3679B8"/>
            </a:solidFill>
            <a:prstDash val="solid"/>
          </a:ln>
        </p:spPr>
      </p:sp>
      <p:sp>
        <p:nvSpPr>
          <p:cNvPr id="8" name="stage-2-number">
            <a:extLst xmlns:a="http://schemas.openxmlformats.org/drawingml/2006/main">
              <a:ext uri="{FF2B5EF4-FFF2-40B4-BE49-F238E27FC236}">
                <a16:creationId xmlns:a16="http://schemas.microsoft.com/office/drawing/2014/main" id="{2C873623-1BC3-4F97-94D2-65C88FEB5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7145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79B8"/>
          </a:solidFill>
          <a:ln xmlns:a="http://schemas.openxmlformats.org/drawingml/2006/main" w="9525">
            <a:solidFill>
              <a:srgbClr val="3679B8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9" name="stage-2-title">
            <a:extLst xmlns:a="http://schemas.openxmlformats.org/drawingml/2006/main">
              <a:ext uri="{FF2B5EF4-FFF2-40B4-BE49-F238E27FC236}">
                <a16:creationId xmlns:a16="http://schemas.microsoft.com/office/drawing/2014/main" id="{A918754B-7EC6-44EA-BC00-E63AF976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1743075"/>
            <a:ext cx="1695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22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82235"/>
                </a:solidFill>
                <a:latin typeface="Arial Unicode MS"/>
                <a:ea typeface="Arial Unicode MS"/>
                <a:cs typeface="Arial Unicode MS"/>
              </a:rPr>
              <a:t>关键词召回</a:t>
            </a:r>
          </a:p>
        </p:txBody>
      </p:sp>
      <p:sp>
        <p:nvSpPr>
          <p:cNvPr id="10" name="stage-2-body">
            <a:extLst xmlns:a="http://schemas.openxmlformats.org/drawingml/2006/main">
              <a:ext uri="{FF2B5EF4-FFF2-40B4-BE49-F238E27FC236}">
                <a16:creationId xmlns:a16="http://schemas.microsoft.com/office/drawing/2014/main" id="{4B452CCC-4F4C-4AF3-9078-E557C6AB7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266950"/>
            <a:ext cx="2152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45526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455267"/>
                </a:solidFill>
                <a:latin typeface="Arial Unicode MS"/>
                <a:ea typeface="Arial Unicode MS"/>
                <a:cs typeface="Arial Unicode MS"/>
              </a:rPr>
              <a:t>摘要 + 主权项</a:t>
            </a:r>
          </a:p>
          <a:p xmlns:a="http://schemas.openxmlformats.org/drawingml/2006/main">
            <a:pPr algn="ctr">
              <a:defRPr sz="1350">
                <a:solidFill>
                  <a:srgbClr val="45526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455267"/>
                </a:solidFill>
                <a:latin typeface="Arial Unicode MS"/>
                <a:ea typeface="Arial Unicode MS"/>
                <a:cs typeface="Arial Unicode MS"/>
              </a:rPr>
              <a:t>S/W/R 全量；E 抽 2%</a:t>
            </a:r>
          </a:p>
        </p:txBody>
      </p:sp>
      <p:sp>
        <p:nvSpPr>
          <p:cNvPr id="11" name="stage-3-box">
            <a:extLst xmlns:a="http://schemas.openxmlformats.org/drawingml/2006/main">
              <a:ext uri="{FF2B5EF4-FFF2-40B4-BE49-F238E27FC236}">
                <a16:creationId xmlns:a16="http://schemas.microsoft.com/office/drawing/2014/main" id="{6FE599FD-403C-40A8-80A4-CF2D8A9C5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524000"/>
            <a:ext cx="2571750" cy="1476375"/>
          </a:xfrm>
          <a:prstGeom xmlns:a="http://schemas.openxmlformats.org/drawingml/2006/main" prst="roundRect">
            <a:avLst>
              <a:gd name="adj" fmla="val 11613"/>
            </a:avLst>
          </a:prstGeom>
          <a:solidFill xmlns:a="http://schemas.openxmlformats.org/drawingml/2006/main">
            <a:srgbClr val="E7F1FC"/>
          </a:solidFill>
          <a:ln xmlns:a="http://schemas.openxmlformats.org/drawingml/2006/main" w="14288">
            <a:solidFill>
              <a:srgbClr val="3679B8"/>
            </a:solidFill>
            <a:prstDash val="solid"/>
          </a:ln>
        </p:spPr>
      </p:sp>
      <p:sp>
        <p:nvSpPr>
          <p:cNvPr id="12" name="stage-3-number">
            <a:extLst xmlns:a="http://schemas.openxmlformats.org/drawingml/2006/main">
              <a:ext uri="{FF2B5EF4-FFF2-40B4-BE49-F238E27FC236}">
                <a16:creationId xmlns:a16="http://schemas.microsoft.com/office/drawing/2014/main" id="{227A96CB-D108-42EC-9BC2-3F30127FA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7145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79B8"/>
          </a:solidFill>
          <a:ln xmlns:a="http://schemas.openxmlformats.org/drawingml/2006/main" w="9525">
            <a:solidFill>
              <a:srgbClr val="3679B8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3" name="stage-3-title">
            <a:extLst xmlns:a="http://schemas.openxmlformats.org/drawingml/2006/main">
              <a:ext uri="{FF2B5EF4-FFF2-40B4-BE49-F238E27FC236}">
                <a16:creationId xmlns:a16="http://schemas.microsoft.com/office/drawing/2014/main" id="{DAD4D7B3-DA35-41F9-A709-3925C7377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743075"/>
            <a:ext cx="1695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22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82235"/>
                </a:solidFill>
                <a:latin typeface="Arial Unicode MS"/>
                <a:ea typeface="Arial Unicode MS"/>
                <a:cs typeface="Arial Unicode MS"/>
              </a:rPr>
              <a:t>G0 初分类</a:t>
            </a:r>
          </a:p>
        </p:txBody>
      </p:sp>
      <p:sp>
        <p:nvSpPr>
          <p:cNvPr id="14" name="stage-3-body">
            <a:extLst xmlns:a="http://schemas.openxmlformats.org/drawingml/2006/main">
              <a:ext uri="{FF2B5EF4-FFF2-40B4-BE49-F238E27FC236}">
                <a16:creationId xmlns:a16="http://schemas.microsoft.com/office/drawing/2014/main" id="{3994B93C-EBC5-4A14-873A-F8148FBAB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66950"/>
            <a:ext cx="2152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45526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455267"/>
                </a:solidFill>
                <a:latin typeface="Arial Unicode MS"/>
                <a:ea typeface="Arial Unicode MS"/>
                <a:cs typeface="Arial Unicode MS"/>
              </a:rPr>
              <a:t>GLM-5.2 独立判断</a:t>
            </a:r>
          </a:p>
          <a:p xmlns:a="http://schemas.openxmlformats.org/drawingml/2006/main">
            <a:pPr algn="ctr">
              <a:defRPr sz="1350">
                <a:solidFill>
                  <a:srgbClr val="45526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455267"/>
                </a:solidFill>
                <a:latin typeface="Arial Unicode MS"/>
                <a:ea typeface="Arial Unicode MS"/>
                <a:cs typeface="Arial Unicode MS"/>
              </a:rPr>
              <a:t>输出类别 1 / 2 / 3</a:t>
            </a:r>
          </a:p>
        </p:txBody>
      </p:sp>
      <p:sp>
        <p:nvSpPr>
          <p:cNvPr id="15" name="stage-4-box">
            <a:extLst xmlns:a="http://schemas.openxmlformats.org/drawingml/2006/main">
              <a:ext uri="{FF2B5EF4-FFF2-40B4-BE49-F238E27FC236}">
                <a16:creationId xmlns:a16="http://schemas.microsoft.com/office/drawing/2014/main" id="{1A3EFB2E-6179-4B55-B7FF-8076599AB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1524000"/>
            <a:ext cx="2571750" cy="1476375"/>
          </a:xfrm>
          <a:prstGeom xmlns:a="http://schemas.openxmlformats.org/drawingml/2006/main" prst="roundRect">
            <a:avLst>
              <a:gd name="adj" fmla="val 11613"/>
            </a:avLst>
          </a:prstGeom>
          <a:solidFill xmlns:a="http://schemas.openxmlformats.org/drawingml/2006/main">
            <a:srgbClr val="FCF0DF"/>
          </a:solidFill>
          <a:ln xmlns:a="http://schemas.openxmlformats.org/drawingml/2006/main" w="14288">
            <a:solidFill>
              <a:srgbClr val="BB711F"/>
            </a:solidFill>
            <a:prstDash val="solid"/>
          </a:ln>
        </p:spPr>
      </p:sp>
      <p:sp>
        <p:nvSpPr>
          <p:cNvPr id="16" name="stage-4-number">
            <a:extLst xmlns:a="http://schemas.openxmlformats.org/drawingml/2006/main">
              <a:ext uri="{FF2B5EF4-FFF2-40B4-BE49-F238E27FC236}">
                <a16:creationId xmlns:a16="http://schemas.microsoft.com/office/drawing/2014/main" id="{4BF50C34-EB52-4024-B96F-5078875F3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17145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B711F"/>
          </a:solidFill>
          <a:ln xmlns:a="http://schemas.openxmlformats.org/drawingml/2006/main" w="9525">
            <a:solidFill>
              <a:srgbClr val="BB711F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17" name="stage-4-title">
            <a:extLst xmlns:a="http://schemas.openxmlformats.org/drawingml/2006/main">
              <a:ext uri="{FF2B5EF4-FFF2-40B4-BE49-F238E27FC236}">
                <a16:creationId xmlns:a16="http://schemas.microsoft.com/office/drawing/2014/main" id="{E375FFDE-2939-4DE7-BB4F-9375BEA7E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1743075"/>
            <a:ext cx="1695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22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82235"/>
                </a:solidFill>
                <a:latin typeface="Arial Unicode MS"/>
                <a:ea typeface="Arial Unicode MS"/>
                <a:cs typeface="Arial Unicode MS"/>
              </a:rPr>
              <a:t>人工 Gold</a:t>
            </a:r>
          </a:p>
        </p:txBody>
      </p:sp>
      <p:sp>
        <p:nvSpPr>
          <p:cNvPr id="18" name="stage-4-body">
            <a:extLst xmlns:a="http://schemas.openxmlformats.org/drawingml/2006/main">
              <a:ext uri="{FF2B5EF4-FFF2-40B4-BE49-F238E27FC236}">
                <a16:creationId xmlns:a16="http://schemas.microsoft.com/office/drawing/2014/main" id="{B22CFBDA-7928-48A8-9271-04CDE1A82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266950"/>
            <a:ext cx="2152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45526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455267"/>
                </a:solidFill>
                <a:latin typeface="Arial Unicode MS"/>
                <a:ea typeface="Arial Unicode MS"/>
                <a:cs typeface="Arial Unicode MS"/>
              </a:rPr>
              <a:t>约 2,000 件</a:t>
            </a:r>
          </a:p>
          <a:p xmlns:a="http://schemas.openxmlformats.org/drawingml/2006/main">
            <a:pPr algn="ctr">
              <a:defRPr sz="1350">
                <a:solidFill>
                  <a:srgbClr val="45526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455267"/>
                </a:solidFill>
                <a:latin typeface="Arial Unicode MS"/>
                <a:ea typeface="Arial Unicode MS"/>
                <a:cs typeface="Arial Unicode MS"/>
              </a:rPr>
              <a:t>双人盲标 + 冲突仲裁</a:t>
            </a:r>
          </a:p>
        </p:txBody>
      </p:sp>
      <p:sp>
        <p:nvSpPr>
          <p:cNvPr id="19" name="stage-5-box">
            <a:extLst xmlns:a="http://schemas.openxmlformats.org/drawingml/2006/main">
              <a:ext uri="{FF2B5EF4-FFF2-40B4-BE49-F238E27FC236}">
                <a16:creationId xmlns:a16="http://schemas.microsoft.com/office/drawing/2014/main" id="{C337E1B2-5FE6-4952-97BB-D363FFA1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4000500"/>
            <a:ext cx="2571750" cy="1476375"/>
          </a:xfrm>
          <a:prstGeom xmlns:a="http://schemas.openxmlformats.org/drawingml/2006/main" prst="roundRect">
            <a:avLst>
              <a:gd name="adj" fmla="val 11613"/>
            </a:avLst>
          </a:prstGeom>
          <a:solidFill xmlns:a="http://schemas.openxmlformats.org/drawingml/2006/main">
            <a:srgbClr val="FCF0DF"/>
          </a:solidFill>
          <a:ln xmlns:a="http://schemas.openxmlformats.org/drawingml/2006/main" w="14288">
            <a:solidFill>
              <a:srgbClr val="BB711F"/>
            </a:solidFill>
            <a:prstDash val="solid"/>
          </a:ln>
        </p:spPr>
      </p:sp>
      <p:sp>
        <p:nvSpPr>
          <p:cNvPr id="20" name="stage-5-number">
            <a:extLst xmlns:a="http://schemas.openxmlformats.org/drawingml/2006/main">
              <a:ext uri="{FF2B5EF4-FFF2-40B4-BE49-F238E27FC236}">
                <a16:creationId xmlns:a16="http://schemas.microsoft.com/office/drawing/2014/main" id="{0E8FF69A-6381-4006-9979-231076E14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1910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B711F"/>
          </a:solidFill>
          <a:ln xmlns:a="http://schemas.openxmlformats.org/drawingml/2006/main" w="9525">
            <a:solidFill>
              <a:srgbClr val="BB711F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  <p:sp>
        <p:nvSpPr>
          <p:cNvPr id="21" name="stage-5-title">
            <a:extLst xmlns:a="http://schemas.openxmlformats.org/drawingml/2006/main">
              <a:ext uri="{FF2B5EF4-FFF2-40B4-BE49-F238E27FC236}">
                <a16:creationId xmlns:a16="http://schemas.microsoft.com/office/drawing/2014/main" id="{E2A61D32-44A6-40C7-8C26-FC649A21B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4219575"/>
            <a:ext cx="1695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22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82235"/>
                </a:solidFill>
                <a:latin typeface="Arial Unicode MS"/>
                <a:ea typeface="Arial Unicode MS"/>
                <a:cs typeface="Arial Unicode MS"/>
              </a:rPr>
              <a:t>数据划分</a:t>
            </a:r>
          </a:p>
        </p:txBody>
      </p:sp>
      <p:sp>
        <p:nvSpPr>
          <p:cNvPr id="22" name="stage-5-body">
            <a:extLst xmlns:a="http://schemas.openxmlformats.org/drawingml/2006/main">
              <a:ext uri="{FF2B5EF4-FFF2-40B4-BE49-F238E27FC236}">
                <a16:creationId xmlns:a16="http://schemas.microsoft.com/office/drawing/2014/main" id="{8DEA9BEA-D436-4A04-8306-E93D2C0CD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743450"/>
            <a:ext cx="2152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45526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455267"/>
                </a:solidFill>
                <a:latin typeface="Arial Unicode MS"/>
                <a:ea typeface="Arial Unicode MS"/>
                <a:cs typeface="Arial Unicode MS"/>
              </a:rPr>
              <a:t>Train 1,000｜Dev 400</a:t>
            </a:r>
          </a:p>
          <a:p xmlns:a="http://schemas.openxmlformats.org/drawingml/2006/main">
            <a:pPr algn="ctr">
              <a:defRPr sz="1350">
                <a:solidFill>
                  <a:srgbClr val="45526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455267"/>
                </a:solidFill>
                <a:latin typeface="Arial Unicode MS"/>
                <a:ea typeface="Arial Unicode MS"/>
                <a:cs typeface="Arial Unicode MS"/>
              </a:rPr>
              <a:t>Locked Test 600</a:t>
            </a:r>
          </a:p>
        </p:txBody>
      </p:sp>
      <p:sp>
        <p:nvSpPr>
          <p:cNvPr id="23" name="stage-6-box">
            <a:extLst xmlns:a="http://schemas.openxmlformats.org/drawingml/2006/main">
              <a:ext uri="{FF2B5EF4-FFF2-40B4-BE49-F238E27FC236}">
                <a16:creationId xmlns:a16="http://schemas.microsoft.com/office/drawing/2014/main" id="{70475793-BE2C-4D00-8094-9E70C0427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00500"/>
            <a:ext cx="2571750" cy="1476375"/>
          </a:xfrm>
          <a:prstGeom xmlns:a="http://schemas.openxmlformats.org/drawingml/2006/main" prst="roundRect">
            <a:avLst>
              <a:gd name="adj" fmla="val 11613"/>
            </a:avLst>
          </a:prstGeom>
          <a:solidFill xmlns:a="http://schemas.openxmlformats.org/drawingml/2006/main">
            <a:srgbClr val="F0EBFA"/>
          </a:solidFill>
          <a:ln xmlns:a="http://schemas.openxmlformats.org/drawingml/2006/main" w="14288">
            <a:solidFill>
              <a:srgbClr val="7658AE"/>
            </a:solidFill>
            <a:prstDash val="solid"/>
          </a:ln>
        </p:spPr>
      </p:sp>
      <p:sp>
        <p:nvSpPr>
          <p:cNvPr id="24" name="stage-6-number">
            <a:extLst xmlns:a="http://schemas.openxmlformats.org/drawingml/2006/main">
              <a:ext uri="{FF2B5EF4-FFF2-40B4-BE49-F238E27FC236}">
                <a16:creationId xmlns:a16="http://schemas.microsoft.com/office/drawing/2014/main" id="{A7DCF7E6-DC92-41C2-88D5-2A585E24B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910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58AE"/>
          </a:solidFill>
          <a:ln xmlns:a="http://schemas.openxmlformats.org/drawingml/2006/main" w="9525">
            <a:solidFill>
              <a:srgbClr val="7658AE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6</a:t>
            </a:r>
          </a:p>
        </p:txBody>
      </p:sp>
      <p:sp>
        <p:nvSpPr>
          <p:cNvPr id="25" name="stage-6-title">
            <a:extLst xmlns:a="http://schemas.openxmlformats.org/drawingml/2006/main">
              <a:ext uri="{FF2B5EF4-FFF2-40B4-BE49-F238E27FC236}">
                <a16:creationId xmlns:a16="http://schemas.microsoft.com/office/drawing/2014/main" id="{DD02C538-9992-46DE-BE2E-F233F74A6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219575"/>
            <a:ext cx="1695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22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82235"/>
                </a:solidFill>
                <a:latin typeface="Arial Unicode MS"/>
                <a:ea typeface="Arial Unicode MS"/>
                <a:cs typeface="Arial Unicode MS"/>
              </a:rPr>
              <a:t>Silver 与训练</a:t>
            </a:r>
          </a:p>
        </p:txBody>
      </p:sp>
      <p:sp>
        <p:nvSpPr>
          <p:cNvPr id="26" name="stage-6-body">
            <a:extLst xmlns:a="http://schemas.openxmlformats.org/drawingml/2006/main">
              <a:ext uri="{FF2B5EF4-FFF2-40B4-BE49-F238E27FC236}">
                <a16:creationId xmlns:a16="http://schemas.microsoft.com/office/drawing/2014/main" id="{A21D5F7B-4590-4402-9E0B-5706CD965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743450"/>
            <a:ext cx="2152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45526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455267"/>
                </a:solidFill>
                <a:latin typeface="Arial Unicode MS"/>
                <a:ea typeface="Arial Unicode MS"/>
                <a:cs typeface="Arial Unicode MS"/>
              </a:rPr>
              <a:t>Alpha 校准 G0 标签</a:t>
            </a:r>
          </a:p>
          <a:p xmlns:a="http://schemas.openxmlformats.org/drawingml/2006/main">
            <a:pPr algn="ctr">
              <a:defRPr sz="1350">
                <a:solidFill>
                  <a:srgbClr val="45526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455267"/>
                </a:solidFill>
                <a:latin typeface="Arial Unicode MS"/>
                <a:ea typeface="Arial Unicode MS"/>
                <a:cs typeface="Arial Unicode MS"/>
              </a:rPr>
              <a:t>训练 R / L 候选模型</a:t>
            </a:r>
          </a:p>
        </p:txBody>
      </p:sp>
      <p:sp>
        <p:nvSpPr>
          <p:cNvPr id="27" name="stage-7-box">
            <a:extLst xmlns:a="http://schemas.openxmlformats.org/drawingml/2006/main">
              <a:ext uri="{FF2B5EF4-FFF2-40B4-BE49-F238E27FC236}">
                <a16:creationId xmlns:a16="http://schemas.microsoft.com/office/drawing/2014/main" id="{8D7EBF64-338F-44A9-9D1E-70EAE87AE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000500"/>
            <a:ext cx="2571750" cy="1476375"/>
          </a:xfrm>
          <a:prstGeom xmlns:a="http://schemas.openxmlformats.org/drawingml/2006/main" prst="roundRect">
            <a:avLst>
              <a:gd name="adj" fmla="val 11613"/>
            </a:avLst>
          </a:prstGeom>
          <a:solidFill xmlns:a="http://schemas.openxmlformats.org/drawingml/2006/main">
            <a:srgbClr val="E5F3EC"/>
          </a:solidFill>
          <a:ln xmlns:a="http://schemas.openxmlformats.org/drawingml/2006/main" w="14288">
            <a:solidFill>
              <a:srgbClr val="2F805D"/>
            </a:solidFill>
            <a:prstDash val="solid"/>
          </a:ln>
        </p:spPr>
      </p:sp>
      <p:sp>
        <p:nvSpPr>
          <p:cNvPr id="28" name="stage-7-number">
            <a:extLst xmlns:a="http://schemas.openxmlformats.org/drawingml/2006/main">
              <a:ext uri="{FF2B5EF4-FFF2-40B4-BE49-F238E27FC236}">
                <a16:creationId xmlns:a16="http://schemas.microsoft.com/office/drawing/2014/main" id="{39FB39A9-4BEC-499D-A489-BCF733A8A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41910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5D"/>
          </a:solidFill>
          <a:ln xmlns:a="http://schemas.openxmlformats.org/drawingml/2006/main" w="9525">
            <a:solidFill>
              <a:srgbClr val="2F805D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7</a:t>
            </a:r>
          </a:p>
        </p:txBody>
      </p:sp>
      <p:sp>
        <p:nvSpPr>
          <p:cNvPr id="29" name="stage-7-title">
            <a:extLst xmlns:a="http://schemas.openxmlformats.org/drawingml/2006/main">
              <a:ext uri="{FF2B5EF4-FFF2-40B4-BE49-F238E27FC236}">
                <a16:creationId xmlns:a16="http://schemas.microsoft.com/office/drawing/2014/main" id="{54C00BAD-9933-49FA-ADF4-1F7EF22E3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4219575"/>
            <a:ext cx="1695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22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82235"/>
                </a:solidFill>
                <a:latin typeface="Arial Unicode MS"/>
                <a:ea typeface="Arial Unicode MS"/>
                <a:cs typeface="Arial Unicode MS"/>
              </a:rPr>
              <a:t>最终模型竞赛</a:t>
            </a:r>
          </a:p>
        </p:txBody>
      </p:sp>
      <p:sp>
        <p:nvSpPr>
          <p:cNvPr id="30" name="stage-7-body">
            <a:extLst xmlns:a="http://schemas.openxmlformats.org/drawingml/2006/main">
              <a:ext uri="{FF2B5EF4-FFF2-40B4-BE49-F238E27FC236}">
                <a16:creationId xmlns:a16="http://schemas.microsoft.com/office/drawing/2014/main" id="{EF20336F-A102-4AD1-911D-9BBDC957C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4743450"/>
            <a:ext cx="2152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45526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455267"/>
                </a:solidFill>
                <a:latin typeface="Arial Unicode MS"/>
                <a:ea typeface="Arial Unicode MS"/>
                <a:cs typeface="Arial Unicode MS"/>
              </a:rPr>
              <a:t>同一 Locked Test</a:t>
            </a:r>
          </a:p>
          <a:p xmlns:a="http://schemas.openxmlformats.org/drawingml/2006/main">
            <a:pPr algn="ctr">
              <a:defRPr sz="1350">
                <a:solidFill>
                  <a:srgbClr val="45526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455267"/>
                </a:solidFill>
                <a:latin typeface="Arial Unicode MS"/>
                <a:ea typeface="Arial Unicode MS"/>
                <a:cs typeface="Arial Unicode MS"/>
              </a:rPr>
              <a:t>Precision 达标后选 Recall</a:t>
            </a:r>
          </a:p>
        </p:txBody>
      </p:sp>
      <p:sp>
        <p:nvSpPr>
          <p:cNvPr id="31" name="stage-8-box">
            <a:extLst xmlns:a="http://schemas.openxmlformats.org/drawingml/2006/main">
              <a:ext uri="{FF2B5EF4-FFF2-40B4-BE49-F238E27FC236}">
                <a16:creationId xmlns:a16="http://schemas.microsoft.com/office/drawing/2014/main" id="{76D60D27-56A7-47FD-8D03-FF814F72C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0"/>
            <a:ext cx="2571750" cy="1476375"/>
          </a:xfrm>
          <a:prstGeom xmlns:a="http://schemas.openxmlformats.org/drawingml/2006/main" prst="roundRect">
            <a:avLst>
              <a:gd name="adj" fmla="val 11613"/>
            </a:avLst>
          </a:prstGeom>
          <a:solidFill xmlns:a="http://schemas.openxmlformats.org/drawingml/2006/main">
            <a:srgbClr val="DDF0E7"/>
          </a:solidFill>
          <a:ln xmlns:a="http://schemas.openxmlformats.org/drawingml/2006/main" w="14288">
            <a:solidFill>
              <a:srgbClr val="247151"/>
            </a:solidFill>
            <a:prstDash val="solid"/>
          </a:ln>
        </p:spPr>
      </p:sp>
      <p:sp>
        <p:nvSpPr>
          <p:cNvPr id="32" name="stage-8-number">
            <a:extLst xmlns:a="http://schemas.openxmlformats.org/drawingml/2006/main">
              <a:ext uri="{FF2B5EF4-FFF2-40B4-BE49-F238E27FC236}">
                <a16:creationId xmlns:a16="http://schemas.microsoft.com/office/drawing/2014/main" id="{4D71D6DF-AC72-4103-BEA3-A44E964D7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151"/>
          </a:solidFill>
          <a:ln xmlns:a="http://schemas.openxmlformats.org/drawingml/2006/main" w="9525">
            <a:solidFill>
              <a:srgbClr val="247151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8</a:t>
            </a:r>
          </a:p>
        </p:txBody>
      </p:sp>
      <p:sp>
        <p:nvSpPr>
          <p:cNvPr id="33" name="stage-8-title">
            <a:extLst xmlns:a="http://schemas.openxmlformats.org/drawingml/2006/main">
              <a:ext uri="{FF2B5EF4-FFF2-40B4-BE49-F238E27FC236}">
                <a16:creationId xmlns:a16="http://schemas.microsoft.com/office/drawing/2014/main" id="{0641FC9E-FC55-488B-8A3B-635B0DBBA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19575"/>
            <a:ext cx="1695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22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82235"/>
                </a:solidFill>
                <a:latin typeface="Arial Unicode MS"/>
                <a:ea typeface="Arial Unicode MS"/>
                <a:cs typeface="Arial Unicode MS"/>
              </a:rPr>
              <a:t>认证与全量识别</a:t>
            </a:r>
          </a:p>
        </p:txBody>
      </p:sp>
      <p:sp>
        <p:nvSpPr>
          <p:cNvPr id="34" name="stage-8-body">
            <a:extLst xmlns:a="http://schemas.openxmlformats.org/drawingml/2006/main">
              <a:ext uri="{FF2B5EF4-FFF2-40B4-BE49-F238E27FC236}">
                <a16:creationId xmlns:a16="http://schemas.microsoft.com/office/drawing/2014/main" id="{3E45EE9E-D0E7-40BD-A637-4CD7B77E7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2152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45526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455267"/>
                </a:solidFill>
                <a:latin typeface="Arial Unicode MS"/>
                <a:ea typeface="Arial Unicode MS"/>
                <a:cs typeface="Arial Unicode MS"/>
              </a:rPr>
              <a:t>E 层排除认证</a:t>
            </a:r>
          </a:p>
          <a:p xmlns:a="http://schemas.openxmlformats.org/drawingml/2006/main">
            <a:pPr algn="ctr">
              <a:defRPr sz="1350">
                <a:solidFill>
                  <a:srgbClr val="45526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455267"/>
                </a:solidFill>
                <a:latin typeface="Arial Unicode MS"/>
                <a:ea typeface="Arial Unicode MS"/>
                <a:cs typeface="Arial Unicode MS"/>
              </a:rPr>
              <a:t>输出最终专利数据集</a:t>
            </a:r>
          </a:p>
        </p:txBody>
      </p:sp>
      <p:cxnSp>
        <p:nvCxnSpPr>
          <p:cNvPr id="78" name=""/>
          <p:cNvCxnSpPr>
            <a:stCxn xmlns:a="http://schemas.openxmlformats.org/drawingml/2006/main" id="3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43250" y="2262188"/>
            <a:ext cx="2571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AA6B6"/>
            </a:solidFill>
            <a:prstDash val="solid"/>
            <a:tailEnd type="triangle" w="med" len="med"/>
          </a:ln>
        </p:spPr>
      </p:cxnSp>
      <p:cxnSp>
        <p:nvCxnSpPr>
          <p:cNvPr id="79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972175" y="2262188"/>
            <a:ext cx="2571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AA6B6"/>
            </a:solidFill>
            <a:prstDash val="solid"/>
            <a:tailEnd type="triangle" w="med" len="med"/>
          </a:ln>
        </p:spPr>
      </p:cxnSp>
      <p:cxnSp>
        <p:nvCxnSpPr>
          <p:cNvPr id="80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801100" y="2262188"/>
            <a:ext cx="2571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AA6B6"/>
            </a:solidFill>
            <a:prstDash val="solid"/>
            <a:tailEnd type="triangle" w="med" len="med"/>
          </a:ln>
        </p:spPr>
      </p:cxnSp>
      <p:cxnSp>
        <p:nvCxnSpPr>
          <p:cNvPr id="81" name=""/>
          <p:cNvCxnSpPr>
            <a:stCxn xmlns:a="http://schemas.openxmlformats.org/drawingml/2006/main" id="15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10344150" y="3000375"/>
            <a:ext cx="0" cy="10001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AA6B6"/>
            </a:solidFill>
            <a:prstDash val="solid"/>
            <a:tailEnd type="triangle" w="med" len="med"/>
          </a:ln>
        </p:spPr>
      </p:cxnSp>
      <p:cxnSp>
        <p:nvCxnSpPr>
          <p:cNvPr id="82" name=""/>
          <p:cNvCxnSpPr>
            <a:stCxn xmlns:a="http://schemas.openxmlformats.org/drawingml/2006/main" id="19" idx="1"/>
            <a:endCxn xmlns:a="http://schemas.openxmlformats.org/drawingml/2006/main" id="23" idx="3"/>
          </p:cNvCxnSpPr>
          <p:nvPr/>
        </p:nvCxnSpPr>
        <p:spPr>
          <a:xfrm xmlns:a="http://schemas.openxmlformats.org/drawingml/2006/main" flipH="1">
            <a:off x="8801100" y="4738688"/>
            <a:ext cx="2571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AA6B6"/>
            </a:solidFill>
            <a:prstDash val="solid"/>
            <a:tailEnd type="triangle" w="med" len="med"/>
          </a:ln>
        </p:spPr>
      </p:cxnSp>
      <p:cxnSp>
        <p:nvCxnSpPr>
          <p:cNvPr id="83" name=""/>
          <p:cNvCxnSpPr>
            <a:stCxn xmlns:a="http://schemas.openxmlformats.org/drawingml/2006/main" id="23" idx="1"/>
            <a:endCxn xmlns:a="http://schemas.openxmlformats.org/drawingml/2006/main" id="27" idx="3"/>
          </p:cNvCxnSpPr>
          <p:nvPr/>
        </p:nvCxnSpPr>
        <p:spPr>
          <a:xfrm xmlns:a="http://schemas.openxmlformats.org/drawingml/2006/main" flipH="1">
            <a:off x="5972175" y="4738688"/>
            <a:ext cx="2571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AA6B6"/>
            </a:solidFill>
            <a:prstDash val="solid"/>
            <a:tailEnd type="triangle" w="med" len="med"/>
          </a:ln>
        </p:spPr>
      </p:cxnSp>
      <p:cxnSp>
        <p:nvCxnSpPr>
          <p:cNvPr id="84" name=""/>
          <p:cNvCxnSpPr>
            <a:stCxn xmlns:a="http://schemas.openxmlformats.org/drawingml/2006/main" id="27" idx="1"/>
            <a:endCxn xmlns:a="http://schemas.openxmlformats.org/drawingml/2006/main" id="31" idx="3"/>
          </p:cNvCxnSpPr>
          <p:nvPr/>
        </p:nvCxnSpPr>
        <p:spPr>
          <a:xfrm xmlns:a="http://schemas.openxmlformats.org/drawingml/2006/main" flipH="1">
            <a:off x="3143250" y="4738688"/>
            <a:ext cx="2571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AA6B6"/>
            </a:solidFill>
            <a:prstDash val="solid"/>
            <a:tailEnd type="triangle" w="med" len="med"/>
          </a:ln>
        </p:spPr>
      </p:cxnSp>
      <p:sp>
        <p:nvSpPr>
          <p:cNvPr id="42" name="footer-divider">
            <a:extLst xmlns:a="http://schemas.openxmlformats.org/drawingml/2006/main">
              <a:ext uri="{FF2B5EF4-FFF2-40B4-BE49-F238E27FC236}">
                <a16:creationId xmlns:a16="http://schemas.microsoft.com/office/drawing/2014/main" id="{597A25E5-6901-4387-BC5E-B1866DA34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7217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FE8"/>
            </a:solidFill>
            <a:prstDash val="solid"/>
          </a:ln>
        </p:spPr>
      </p:sp>
      <p:sp>
        <p:nvSpPr>
          <p:cNvPr id="43" name="footer-note">
            <a:extLst xmlns:a="http://schemas.openxmlformats.org/drawingml/2006/main">
              <a:ext uri="{FF2B5EF4-FFF2-40B4-BE49-F238E27FC236}">
                <a16:creationId xmlns:a16="http://schemas.microsoft.com/office/drawing/2014/main" id="{88186A4F-2D4A-4B44-9368-E48D8B174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5865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586579"/>
                </a:solidFill>
                <a:latin typeface="Arial Unicode MS"/>
                <a:ea typeface="Arial Unicode MS"/>
                <a:cs typeface="Arial Unicode MS"/>
              </a:rPr>
              <a:t>关键隔离：关键词层级不进入 G0 提示词；Locked Test 不参与训练、调参或 Silver 构建。</a:t>
            </a:r>
          </a:p>
        </p:txBody>
      </p:sp>
    </p:spTree>
    <p:extLst>
      <p:ext uri="{BB962C8B-B14F-4D97-AF65-F5344CB8AC3E}">
        <p14:creationId xmlns:p14="http://schemas.microsoft.com/office/powerpoint/2010/main" val="6594677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2026-07-13T06:20:46.5390000Z</dcterms:created>
  <dcterms:modified xsi:type="dcterms:W3CDTF">2026-07-13T06:20:46.5490000Z</dcterms:modified>
</coreProperties>
</file>